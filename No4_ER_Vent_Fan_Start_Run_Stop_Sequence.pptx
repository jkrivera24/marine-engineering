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0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NO.4 E/R VENT. FAN (REV)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7ED6D4"/>
                </a:solidFill>
                <a:latin typeface="Calibri"/>
              </a:rPr>
              <a:t>Start → Run → Stop Sequence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C5D8"/>
                </a:solidFill>
                <a:latin typeface="Calibri"/>
              </a:rPr>
              <a:t>Based on schematic HI-2536-ME-SD1 (p.072) &amp; HI-2536-ME-SD2 (p.073)
Controller: LUXCO SMC-503H  |  Autotransformer reduced-voltage start  |  EOCR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B0"/>
                </a:solidFill>
                <a:latin typeface="Calibri"/>
              </a:rPr>
              <a:t>Hyundai Heavy Industries  ·  Shipboard Engine Room Ventilation Fan (Reversible)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1. System Overview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Main components involved in start / run / 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Hyundai Heavy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2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Main MCCB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3-phase power in
(R, S, 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18872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141732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88F / 88R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Direction Contactors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231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Forward (Supply)
Reverse (Exhaust)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ATr + 6-1/6-2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Reduced-Voltage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231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Autotransformer
80% / 60% taps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18872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26880" y="141732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011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Transition Timer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42316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≈ 30 sec
Start → Full voltage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65760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388620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51 EOCR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Overcurrent Relay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SET 3.27 A
INV characteristic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365760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74720" y="388620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SMC-503H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Motor Controller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892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Local/Remote F-R
Lamps &amp; alarms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65760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0" y="388620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4FX / 4RX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Run Feedback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92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Aux contacts back
to SMC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365760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26880" y="3886200"/>
            <a:ext cx="2377440" cy="41148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931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88SH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B2C4A"/>
                </a:solidFill>
                <a:latin typeface="Calibri"/>
              </a:rPr>
              <a:t>Space Heater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8920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ON when motor
stopped (if enabled)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2. Pre-Start Conditions (Ready to Start)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All must be OK before pressing SUPPLY or EXHAUST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Hyundai Heavy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3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4300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27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Calibri"/>
              </a:rPr>
              <a:t>MCCB 52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3-phase power available to starter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4300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27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Calibri"/>
              </a:rPr>
              <a:t>SOURCE lamp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SMC-503H has AC 220 V control power (S1–S2)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37744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61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Calibri"/>
              </a:rPr>
              <a:t>ABNORMAL lamp 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926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No fault latched; EOCR not tripped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37744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269748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761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Calibri"/>
              </a:rPr>
              <a:t>HEATING may be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926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Normal if HEATER switch = ON and motor was stopped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61188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995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Calibri"/>
              </a:rPr>
              <a:t>Ammeter ≈ 0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Motor not running; contactors open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61188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00800" y="393192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9959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Calibri"/>
              </a:rPr>
              <a:t>EOCR healthy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Not in TRIP; SET’G = 3.27 A (drawing value)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84632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230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Calibri"/>
              </a:rPr>
              <a:t>Direction clear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Wait until fan stopped mechanically before F↔R change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846320"/>
            <a:ext cx="5623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166360"/>
            <a:ext cx="457200" cy="45720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03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2C4A"/>
                </a:solidFill>
                <a:latin typeface="Calibri"/>
              </a:rPr>
              <a:t>Start count 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394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Max 3 consecutive starts; then wait 40 min (ATr cool-down)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3. Start Sequence — Overview (Supply / Forward)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Same logic for Exhaust / Reverse using 88R &amp; 4RX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Hyundai Heavy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4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371600"/>
            <a:ext cx="1371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219456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Calibri"/>
              </a:rPr>
              <a:t>Press
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30632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Operator
command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581912" y="2423160"/>
            <a:ext cx="320040" cy="228600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09928" y="1371600"/>
            <a:ext cx="1371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1408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19456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Calibri"/>
              </a:rPr>
              <a:t>4F / SMC
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0632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Run command
to starter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63240" y="2423160"/>
            <a:ext cx="320040" cy="228600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91256" y="1371600"/>
            <a:ext cx="1371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02736" y="155448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2736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219456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Calibri"/>
              </a:rPr>
              <a:t>88SH
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30632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Heater drops
out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544568" y="2423160"/>
            <a:ext cx="320040" cy="228600"/>
          </a:xfrm>
          <a:prstGeom prst="rightArrow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72584" y="1371600"/>
            <a:ext cx="1371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84064" y="1554480"/>
            <a:ext cx="502920" cy="50292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4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5736" y="219456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Calibri"/>
              </a:rPr>
              <a:t>Start
6-1 / 6-2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30632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Reduced V
via ATr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025896" y="2423160"/>
            <a:ext cx="320040" cy="228600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53912" y="1371600"/>
            <a:ext cx="1371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65392" y="15544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7064" y="219456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Calibri"/>
              </a:rPr>
              <a:t>88F
closes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7064" y="30632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Forward
power path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507224" y="2423160"/>
            <a:ext cx="320040" cy="2286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35240" y="1371600"/>
            <a:ext cx="1371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46720" y="1554480"/>
            <a:ext cx="502920" cy="50292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08392" y="219456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Calibri"/>
              </a:rPr>
              <a:t>Timer 19
≈ 30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8392" y="30632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Transition
wait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988552" y="2423160"/>
            <a:ext cx="320040" cy="228600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16568" y="1371600"/>
            <a:ext cx="1371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28048" y="15544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28048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219456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Calibri"/>
              </a:rPr>
              <a:t>Full
voltage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30632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Run contactors
transfer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10469880" y="2423160"/>
            <a:ext cx="320040" cy="2286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597896" y="1371600"/>
            <a:ext cx="13716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009376" y="155448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009376" y="1645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71048" y="2194560"/>
            <a:ext cx="1234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B2C4A"/>
                </a:solidFill>
                <a:latin typeface="Calibri"/>
              </a:rPr>
              <a:t>4FX
feedback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71048" y="3063240"/>
            <a:ext cx="1234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SMC confirms
RUN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4023360"/>
            <a:ext cx="11430000" cy="219456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Expected indications after successful start (running)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617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SOURCE = ON (white)
• SUPPLY (or EXHAUST) RUN = ON (green)
• ABNORMAL = OFF   |   INTERVAL = OFF   |   HEATING = OFF
• Ammeter ≈ motor load (typical ~60–65 A near FLA 65.4 A)
• EOCR measured current ≈ 3.0–3.3 A secondary (CT 100/5) under normal 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4. Start Sequence — Detailed Steps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Power &amp; control actions in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Hyundai Heavy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5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A.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28016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Operator presses SUPPLY (F) on SMC-503H (or remote F via GSP2).
Internal 4F picks up. HEATING lamp goes OFF; 88SH drops.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10312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B. Reduced-voltage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28600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Start contactors 6-1 / 6-2 close. Motor fed through autotransformer (ATr)
at reduced voltage (80%/60% taps) to limit inrush. 88F (or 88R) path active.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10896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015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C. Transition (Timer 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29184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Timer 19 runs ≈ 30 seconds. After time-out, circuit transfers from
reduced-voltage start to full-voltage run. 6-1/6-2 sequence completes.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1480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34340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074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D. Full-voltage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29768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Motor runs on full line voltage via 88F (Supply) or 88R (Exhaust).
Interlocks prevent 88F and 88R both closed. Hour meter (HM) counts.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12064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534924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4132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E. Feedback &amp; protect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30352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4FX (or 4RX) aux contact closes → SMC sees RUN feedback.
EOCR 51 monitors CT current continuously (INV curve, D-TIME 6 s start delay).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5. Running / Monitoring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What to watch while the fan is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Hyundai Heavy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6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2834640" cy="32004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alibri"/>
              </a:rPr>
              <a:t>Door ammeter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~60–65 A typical
FLA = 65.4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7C7B"/>
                </a:solidFill>
                <a:latin typeface="Calibri"/>
              </a:rPr>
              <a:t>If rising toward/
above FLA → load issue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88720"/>
            <a:ext cx="2834640" cy="3200400"/>
          </a:xfrm>
          <a:prstGeom prst="roundRect">
            <a:avLst>
              <a:gd name="adj" fmla="val 8000"/>
            </a:avLst>
          </a:prstGeom>
          <a:solidFill>
            <a:srgbClr val="FDE8D8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alibri"/>
              </a:rPr>
              <a:t>EOCR display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65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Measured A (sec.)
SET’G = 3.27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200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45C26"/>
                </a:solidFill>
                <a:latin typeface="Calibri"/>
              </a:rPr>
              <a:t>If measured &gt; SET’G
→ INV trip in 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188720"/>
            <a:ext cx="2834640" cy="3200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alibri"/>
              </a:rPr>
              <a:t>SMC lamps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SOURCE + RUN ON
ABNORMAL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Calibri"/>
              </a:rPr>
              <a:t>ABNORMAL ON =
fault / overload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188720"/>
            <a:ext cx="2834640" cy="3200400"/>
          </a:xfrm>
          <a:prstGeom prst="roundRect">
            <a:avLst>
              <a:gd name="adj" fmla="val 8000"/>
            </a:avLst>
          </a:prstGeom>
          <a:solidFill>
            <a:srgbClr val="D4EFEE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2C4A"/>
                </a:solidFill>
                <a:latin typeface="Calibri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965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4FX / 4RX closed
to SMC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200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7C7B"/>
                </a:solidFill>
                <a:latin typeface="Calibri"/>
              </a:rPr>
              <a:t>Lost feedback may
cause abnormal stop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17720"/>
            <a:ext cx="11430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71C1C"/>
                </a:solidFill>
                <a:latin typeface="Calibri"/>
              </a:rPr>
              <a:t>EOCR 51 settings (from drawing)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Motor rating 65.4 A   |   Range 0.5–6 A   |   SET’G 3.27 A   |   O-TIME 10 s   |   D-TIME 6 s   |   CHA = INV   |   PF = OFF
CT ratio (effective): 100/5 → secondary = primary ÷ 20   (example: 63 A primary ≈ 3.15 A on EOCR)
Important: If EOCR measured &gt; 3.27 while door meter looks normal, verify with clamp meter — EOCR may trip on INV delay.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6. Normal Stop Sequence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Clean stop — no fault declared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Hyundai Heavy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7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2344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41732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C4A"/>
                </a:solidFill>
                <a:latin typeface="Calibri"/>
              </a:rPr>
              <a:t>Stop command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5176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Press STOP on SMC
or remote opens run
command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57400" y="2468880"/>
            <a:ext cx="320040" cy="228600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40279" y="12344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80359" y="141732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59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19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C4A"/>
                </a:solidFill>
                <a:latin typeface="Calibri"/>
              </a:rPr>
              <a:t>4F / 4R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19" y="265176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SMC releases
forward/reverse
output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23359" y="2468880"/>
            <a:ext cx="320040" cy="228600"/>
          </a:xfrm>
          <a:prstGeom prst="rightArrow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12344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1417320"/>
            <a:ext cx="502920" cy="50292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C4A"/>
                </a:solidFill>
                <a:latin typeface="Calibri"/>
              </a:rPr>
              <a:t>88F / 88R 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65176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Power contactors
open; motor coasts
down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89320" y="2468880"/>
            <a:ext cx="320040" cy="228600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199" y="12344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12279" y="1417320"/>
            <a:ext cx="502920" cy="50292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79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39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C4A"/>
                </a:solidFill>
                <a:latin typeface="Calibri"/>
              </a:rPr>
              <a:t>Current →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39" y="265176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Ammeter returns
to 0 A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955279" y="2468880"/>
            <a:ext cx="320040" cy="228600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12344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78240" y="1417320"/>
            <a:ext cx="502920" cy="50292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C4A"/>
                </a:solidFill>
                <a:latin typeface="Calibri"/>
              </a:rPr>
              <a:t>Heater 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65176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If HEATER = ON,
88SH closes;
HEATING lamp ON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921240" y="2468880"/>
            <a:ext cx="320040" cy="228600"/>
          </a:xfrm>
          <a:prstGeom prst="rightArrow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04120" y="1234440"/>
            <a:ext cx="1874519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44200" y="1417320"/>
            <a:ext cx="502920" cy="5029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44200" y="15087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2103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2C4A"/>
                </a:solidFill>
                <a:latin typeface="Calibri"/>
              </a:rPr>
              <a:t>Final 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5560" y="2651760"/>
            <a:ext cx="1691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SOURCE ON
ABNORMAL OFF
RUN lamps OFF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" y="4526280"/>
            <a:ext cx="11430000" cy="1737360"/>
          </a:xfrm>
          <a:prstGeom prst="roundRect">
            <a:avLst>
              <a:gd name="adj" fmla="val 8000"/>
            </a:avLst>
          </a:prstGeom>
          <a:solidFill>
            <a:srgbClr val="FDE8D8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5C26"/>
                </a:solidFill>
                <a:latin typeface="Calibri"/>
              </a:rPr>
              <a:t>Your observed after-stop state matched NORMAL STOP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074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SOURCE ON · ABNORMAL OFF · INTERVAL OFF · HEATING ON · Ammeter 0 A
That means SMC released the run command (or control path opened as a “quiet” stop),
not a declared abnormal trip. If unintended: check STOP contact, SMC seal-in (4F), remote GSP2.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7. Normal Stop vs Abnormal Stop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How to tell what stopped the fan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Hyundai Heavy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8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Calibri"/>
              </a:rPr>
              <a:t>NORMAL / COMMAND STOP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Lamps
• ABNORMAL = OFF
• HEATING = ON (if heater switch ON)
• RUN lamps = OFF
• INTERVAL = OFF
Typical causes
• STOP button pressed / intermittent NC
• SMC 4F seal-in dropped
• Remote run contact opened (GSP2)
• Control power blip (may not latch abnormal)
88F replacement usually does NOT fix this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71C1C"/>
                </a:solidFill>
                <a:latin typeface="Calibri"/>
              </a:rPr>
              <a:t>ABNORMAL / PROTECTION 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Lamps
• ABNORMAL = ON (red)
• EOCR may show TRIP / OL
• RUN lamps = OFF
• HEATING may still come ON after stop
Typical causes
• EOCR 51 trip (INV — can take minutes)
• Overload / high current
• Power fail path
• Lost start/run feedback (4FX) after T1
Check EOCR trip state + clamp current
before raising SET’G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8. Quick Troubleshooting Flow (Stops After Several Minutes)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Use after-stop lamps + current readings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Hyundai Heavy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9 /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097280"/>
            <a:ext cx="5760720" cy="594360"/>
          </a:xfrm>
          <a:prstGeom prst="roundRect">
            <a:avLst>
              <a:gd name="adj" fmla="val 8000"/>
            </a:avLst>
          </a:prstGeom>
          <a:solidFill>
            <a:srgbClr val="0B2C4A"/>
          </a:solidFill>
          <a:ln w="19050">
            <a:solidFill>
              <a:srgbClr val="0B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188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Fan stops after several minutes — check lamps at the moment of stop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71C1C"/>
                </a:solidFill>
                <a:latin typeface="Calibri"/>
              </a:rPr>
              <a:t>ABNORMAL 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Yes → EOCR / protect
Check EOCR TRIP, clamp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Calibri"/>
              </a:rPr>
              <a:t>ABNORMAL OFF?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Yes → Command stop path
STOP / SMC 4F / Remote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91840"/>
            <a:ext cx="3657600" cy="1280160"/>
          </a:xfrm>
          <a:prstGeom prst="roundRect">
            <a:avLst>
              <a:gd name="adj" fmla="val 8000"/>
            </a:avLst>
          </a:prstGeom>
          <a:solidFill>
            <a:srgbClr val="FDE8D8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EOCR measured &gt; 3.27?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94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Even if door amp ~63 A
Verify with clamp meter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91840"/>
            <a:ext cx="5394960" cy="1280160"/>
          </a:xfrm>
          <a:prstGeom prst="roundRect">
            <a:avLst>
              <a:gd name="adj" fmla="val 8000"/>
            </a:avLst>
          </a:prstGeom>
          <a:solidFill>
            <a:srgbClr val="D4EFEE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C7B"/>
                </a:solidFill>
                <a:latin typeface="Calibri"/>
              </a:rPr>
              <a:t>SUPPLY lamp off first?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9476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Yes = SMC dropped command
No = power side after SMC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84632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983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71C1C"/>
                </a:solidFill>
                <a:latin typeface="Calibri"/>
              </a:rPr>
              <a:t>Clamp ≈ EOCR (high)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Real overload / mechanical load
Do not only raise SET’G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84632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FDE8D8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983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</a:rPr>
              <a:t>Clamp ≈ door (~63), EOCR 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3492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False EOCR/CT reading
Check CT &amp; EOCR device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9. Your Field Readings (as found)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Filled from panel checks during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Field readings 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097280"/>
            <a:ext cx="11521440" cy="658368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After-stop lamps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1704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SOURCE ON · ABNORMAL OFF · INTERVAL OFF · HEATING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1704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Matches NORMAL / command stop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1828800"/>
            <a:ext cx="11521440" cy="6583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019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7C7B"/>
                </a:solidFill>
                <a:latin typeface="Calibri"/>
              </a:rPr>
              <a:t>Door ammeter (running)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019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~ 63 A  (FLA 65.4 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90195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Under FLA — looks 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560320"/>
            <a:ext cx="11521440" cy="658368"/>
          </a:xfrm>
          <a:prstGeom prst="roundRect">
            <a:avLst>
              <a:gd name="adj" fmla="val 8000"/>
            </a:avLst>
          </a:prstGeom>
          <a:solidFill>
            <a:srgbClr val="FDE8D8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334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</a:rPr>
              <a:t>EOCR measured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63347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3.7 A secondary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3347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Above SET’G 3.27 A — INV may trip in minutes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291840"/>
            <a:ext cx="11521440" cy="658368"/>
          </a:xfrm>
          <a:prstGeom prst="roundRect">
            <a:avLst>
              <a:gd name="adj" fmla="val 8000"/>
            </a:avLst>
          </a:prstGeom>
          <a:solidFill>
            <a:srgbClr val="FDE8D8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6499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</a:rPr>
              <a:t>EOCR setting (drawing)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3649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SET’G 3.27 A · CHA INV · D-TIME 6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36499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Expected secondary at FLA ≈ 3.27 A (CT 100/5)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023360"/>
            <a:ext cx="11521440" cy="658368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905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965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71C1C"/>
                </a:solidFill>
                <a:latin typeface="Calibri"/>
              </a:rPr>
              <a:t>88F contactor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09651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Already renewed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09651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Did not cure delayed stop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4754880"/>
            <a:ext cx="11521440" cy="658368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2803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Lamp 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8280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All indicators 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2803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ABNORMAL lamp is good — so OFF means truly no alarm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486400"/>
            <a:ext cx="11521440" cy="658368"/>
          </a:xfrm>
          <a:prstGeom prst="roundRect">
            <a:avLst>
              <a:gd name="adj" fmla="val 8000"/>
            </a:avLst>
          </a:prstGeom>
          <a:solidFill>
            <a:srgbClr val="FDE8D8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5595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100"/>
                </a:solidFill>
                <a:latin typeface="Calibri"/>
              </a:rPr>
              <a:t>Conflict to resolve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5595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Door ~63 A vs EOCR 3.7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55955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Use clamp meter on all 3 phases to decide real vs false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10. One-Page Flowchart (print companion)</a:t>
            </a:r>
          </a:p>
          <a:p>
            <a:r>
              <a:rPr sz="1200">
                <a:solidFill>
                  <a:srgbClr val="A8C5D8"/>
                </a:solidFill>
                <a:latin typeface="Calibri"/>
              </a:rPr>
              <a:t>Same content as the A4 landscape PDF — keep beside the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6A7A"/>
                </a:solidFill>
                <a:latin typeface="Calibri"/>
              </a:rPr>
              <a:t>NO.4 E/R VENT. FAN (REV)  |  HI-2536-ME-SD1/SD2  |  Field readings included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43000"/>
            <a:ext cx="3749039" cy="5120640"/>
          </a:xfrm>
          <a:prstGeom prst="roundRect">
            <a:avLst>
              <a:gd name="adj" fmla="val 8000"/>
            </a:avLst>
          </a:prstGeom>
          <a:solidFill>
            <a:srgbClr val="D4EFEE"/>
          </a:solidFill>
          <a:ln w="19050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3383280" cy="457200"/>
          </a:xfrm>
          <a:prstGeom prst="roundRect">
            <a:avLst>
              <a:gd name="adj" fmla="val 15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START →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1. Pre-start OK (52, SOURCE, no abnormal)
2. Press SUPPLY or EXHAUST
3. Heater OFF (88SH open)
4. Reduced V start (6-1/6-2 + ATr)
5. Timer 19 ≈ 30 s transition
6. Full voltage via 88F / 88R
7. 4FX / 4RX feedback to SMC
8. Monitor A + EOCR + lamps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143000"/>
            <a:ext cx="3749039" cy="512064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39" y="1325880"/>
            <a:ext cx="3383280" cy="45720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1389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NORMAL 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9659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STOP / command drop
4F/4R release
88F/88R open → Amp 0
HEATING ON (if heater ON)
ABNORMAL stays OFF
Your after-stop state matched this
→ check STOP / SMC / remote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143000"/>
            <a:ext cx="3749039" cy="5120640"/>
          </a:xfrm>
          <a:prstGeom prst="roundRect">
            <a:avLst>
              <a:gd name="adj" fmla="val 8000"/>
            </a:avLst>
          </a:prstGeom>
          <a:solidFill>
            <a:srgbClr val="FDE8D8"/>
          </a:solidFill>
          <a:ln w="19050"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59" y="1325880"/>
            <a:ext cx="3383280" cy="457200"/>
          </a:xfrm>
          <a:prstGeom prst="roundRect">
            <a:avLst>
              <a:gd name="adj" fmla="val 15000"/>
            </a:avLst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3898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19659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Clamp all 3 phases while running
Compare to door A and EOCR 3.7
If clamp ≈ 63 A: EOCR/CT suspect
If clamp high: real overload
Watch stop: SUPPLY lamp first?
Retest in LOCAL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