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12191695" cy="2743200"/>
          </a:xfrm>
          <a:prstGeom prst="rect">
            <a:avLst/>
          </a:prstGeom>
          <a:solidFill>
            <a:srgbClr val="0E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NO.4 E/R VENT. FAN (REV)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889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7ED6D4"/>
                </a:solidFill>
                <a:latin typeface="Calibri"/>
              </a:rPr>
              <a:t>Start → Run → Stop Sequence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8C5D8"/>
                </a:solidFill>
                <a:latin typeface="Calibri"/>
              </a:rPr>
              <a:t>Based on schematic HI-2536-ME-SD1 (p.072) &amp; HI-2536-ME-SD2 (p.073)
Controller: LUXCO SMC-503H  |  Autotransformer reduced-voltage start  |  EOCR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A9AB0"/>
                </a:solidFill>
                <a:latin typeface="Calibri"/>
              </a:rPr>
              <a:t>Hyundai Heavy Industries  ·  Shipboard Engine Room Ventilation Fan (Reversible)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1. System Overview</a:t>
            </a:r>
          </a:p>
          <a:p>
            <a:r>
              <a:rPr sz="1200">
                <a:solidFill>
                  <a:srgbClr val="A8C5D8"/>
                </a:solidFill>
                <a:latin typeface="Calibri"/>
              </a:rPr>
              <a:t>Main components involved in start / run / stop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6A7A"/>
                </a:solidFill>
                <a:latin typeface="Calibri"/>
              </a:rPr>
              <a:t>NO.4 E/R VENT. FAN (REV)  |  HI-2536-ME-SD1/SD2  |  Hyundai Heavy Industries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A7A"/>
                </a:solidFill>
                <a:latin typeface="Calibri"/>
              </a:rPr>
              <a:t>2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1887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2377440" cy="411480"/>
          </a:xfrm>
          <a:prstGeom prst="roundRect">
            <a:avLst>
              <a:gd name="adj" fmla="val 20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2C4A"/>
                </a:solidFill>
                <a:latin typeface="Calibri"/>
              </a:rPr>
              <a:t>Main MCCB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2316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3-phase power in
(R, S, 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1887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4720" y="1417320"/>
            <a:ext cx="2377440" cy="411480"/>
          </a:xfrm>
          <a:prstGeom prst="roundRect">
            <a:avLst>
              <a:gd name="adj" fmla="val 20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88F / 88R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2C4A"/>
                </a:solidFill>
                <a:latin typeface="Calibri"/>
              </a:rPr>
              <a:t>Direction Contactors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42316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Forward (Supply)
Reverse (Exhaust)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1887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1417320"/>
            <a:ext cx="2377440" cy="411480"/>
          </a:xfrm>
          <a:prstGeom prst="roundRect">
            <a:avLst>
              <a:gd name="adj" fmla="val 20000"/>
            </a:avLst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ATr + 6-1/6-2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2C4A"/>
                </a:solidFill>
                <a:latin typeface="Calibri"/>
              </a:rPr>
              <a:t>Reduced-Voltage 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42316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Autotransformer
80% / 60% taps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1887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26880" y="1417320"/>
            <a:ext cx="2377440" cy="411480"/>
          </a:xfrm>
          <a:prstGeom prst="roundRect">
            <a:avLst>
              <a:gd name="adj" fmla="val 20000"/>
            </a:avLst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2C4A"/>
                </a:solidFill>
                <a:latin typeface="Calibri"/>
              </a:rPr>
              <a:t>Transition Timer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242316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≈ 30 sec
Start → Full voltage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365760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3886200"/>
            <a:ext cx="2377440" cy="411480"/>
          </a:xfrm>
          <a:prstGeom prst="roundRect">
            <a:avLst>
              <a:gd name="adj" fmla="val 20000"/>
            </a:avLst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931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51 EOCR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4805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2C4A"/>
                </a:solidFill>
                <a:latin typeface="Calibri"/>
              </a:rPr>
              <a:t>Overcurrent Relay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9204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SET 3.27 A
INV characteristic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91840" y="365760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474720" y="3886200"/>
            <a:ext cx="2377440" cy="411480"/>
          </a:xfrm>
          <a:prstGeom prst="roundRect">
            <a:avLst>
              <a:gd name="adj" fmla="val 20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0" y="3931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SMC-503H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4805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2C4A"/>
                </a:solidFill>
                <a:latin typeface="Calibri"/>
              </a:rPr>
              <a:t>Motor Controller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489204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Local/Remote F-R
Lamps &amp; alarms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365760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400800" y="3886200"/>
            <a:ext cx="2377440" cy="411480"/>
          </a:xfrm>
          <a:prstGeom prst="roundRect">
            <a:avLst>
              <a:gd name="adj" fmla="val 20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931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4FX / 4RX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4805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2C4A"/>
                </a:solidFill>
                <a:latin typeface="Calibri"/>
              </a:rPr>
              <a:t>Run Feedback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89204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Aux contacts back
to SMC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0" y="365760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326880" y="3886200"/>
            <a:ext cx="2377440" cy="411480"/>
          </a:xfrm>
          <a:prstGeom prst="roundRect">
            <a:avLst>
              <a:gd name="adj" fmla="val 20000"/>
            </a:avLst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0" y="3931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88SH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4805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2C4A"/>
                </a:solidFill>
                <a:latin typeface="Calibri"/>
              </a:rPr>
              <a:t>Space Heater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0" y="489204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ON when motor
stopped (if enabled)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2. Pre-Start Conditions (Ready to Start)</a:t>
            </a:r>
          </a:p>
          <a:p>
            <a:r>
              <a:rPr sz="1200">
                <a:solidFill>
                  <a:srgbClr val="A8C5D8"/>
                </a:solidFill>
                <a:latin typeface="Calibri"/>
              </a:rPr>
              <a:t>All must be OK before pressing SUPPLY or EXHAUST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6A7A"/>
                </a:solidFill>
                <a:latin typeface="Calibri"/>
              </a:rPr>
              <a:t>NO.4 E/R VENT. FAN (REV)  |  HI-2536-ME-SD1/SD2  |  Hyundai Heavy Industries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A7A"/>
                </a:solidFill>
                <a:latin typeface="Calibri"/>
              </a:rPr>
              <a:t>3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14300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270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325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MCCB 52 CLOSED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6916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3-phase power available to starter panel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14300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0" y="1463040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270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1325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SOURCE lamp 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6916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SMC-503H has AC 220 V control power (S1–S2)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37744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7614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ABNORMAL lamp 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No fault latched; EOCR not tripped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37744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0" y="2697480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7614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HEATING may be 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Normal if HEATER switch = ON and motor was stopped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361188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9959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3794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Ammeter ≈ 0 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41605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Motor not running; contactors open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361188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00800" y="3931920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9959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3794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EOCR healthy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41605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Not in TRIP; SET’G = 3.27 A (drawing value)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4632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2303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Direction clear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8720" y="53949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Wait until fan stopped mechanically before F↔R change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484632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00800" y="5166360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0" y="52303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Start count OK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53949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Max 3 consecutive starts; then wait 40 min (ATr cool-down)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3. Start Sequence — Overview (Supply / Forward)</a:t>
            </a:r>
          </a:p>
          <a:p>
            <a:r>
              <a:rPr sz="1200">
                <a:solidFill>
                  <a:srgbClr val="A8C5D8"/>
                </a:solidFill>
                <a:latin typeface="Calibri"/>
              </a:rPr>
              <a:t>Same logic for Exhaust / Reverse using 88R &amp; 4RX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6A7A"/>
                </a:solidFill>
                <a:latin typeface="Calibri"/>
              </a:rPr>
              <a:t>NO.4 E/R VENT. FAN (REV)  |  HI-2536-ME-SD1/SD2  |  Hyundai Heavy Industries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A7A"/>
                </a:solidFill>
                <a:latin typeface="Calibri"/>
              </a:rPr>
              <a:t>4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371600"/>
            <a:ext cx="13716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2194560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C4A"/>
                </a:solidFill>
                <a:latin typeface="Calibri"/>
              </a:rPr>
              <a:t>Press
SUPPLY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306324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Operator
command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581912" y="2423160"/>
            <a:ext cx="320040" cy="228600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09928" y="1371600"/>
            <a:ext cx="13716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21408" y="16459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194560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C4A"/>
                </a:solidFill>
                <a:latin typeface="Calibri"/>
              </a:rPr>
              <a:t>4F / SMC
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06324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Run command
to starter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063240" y="2423160"/>
            <a:ext cx="320040" cy="228600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191256" y="1371600"/>
            <a:ext cx="13716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02736" y="1554480"/>
            <a:ext cx="502920" cy="50292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2736" y="16459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64408" y="2194560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C4A"/>
                </a:solidFill>
                <a:latin typeface="Calibri"/>
              </a:rPr>
              <a:t>88SH
OFF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306324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Heater drops
out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544568" y="2423160"/>
            <a:ext cx="320040" cy="228600"/>
          </a:xfrm>
          <a:prstGeom prst="rightArrow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672584" y="1371600"/>
            <a:ext cx="13716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84064" y="1554480"/>
            <a:ext cx="502920" cy="502920"/>
          </a:xfrm>
          <a:prstGeom prst="ellipse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84064" y="16459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45736" y="2194560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C4A"/>
                </a:solidFill>
                <a:latin typeface="Calibri"/>
              </a:rPr>
              <a:t>Start
6-1 / 6-2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45736" y="306324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Reduced V
via ATr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025896" y="2423160"/>
            <a:ext cx="320040" cy="228600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53912" y="1371600"/>
            <a:ext cx="13716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65392" y="155448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65392" y="16459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27064" y="2194560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C4A"/>
                </a:solidFill>
                <a:latin typeface="Calibri"/>
              </a:rPr>
              <a:t>88F
closes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27064" y="306324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Forward
power path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507224" y="2423160"/>
            <a:ext cx="320040" cy="228600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635240" y="1371600"/>
            <a:ext cx="13716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46720" y="1554480"/>
            <a:ext cx="502920" cy="502920"/>
          </a:xfrm>
          <a:prstGeom prst="ellipse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0" y="16459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08392" y="2194560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C4A"/>
                </a:solidFill>
                <a:latin typeface="Calibri"/>
              </a:rPr>
              <a:t>Timer 19
≈ 30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08392" y="306324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Transition
wait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8988552" y="2423160"/>
            <a:ext cx="320040" cy="228600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116568" y="1371600"/>
            <a:ext cx="13716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528048" y="155448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28048" y="16459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9720" y="2194560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C4A"/>
                </a:solidFill>
                <a:latin typeface="Calibri"/>
              </a:rPr>
              <a:t>Full
voltage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306324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Run contactors
transfer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10469880" y="2423160"/>
            <a:ext cx="320040" cy="228600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597896" y="1371600"/>
            <a:ext cx="13716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009376" y="155448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009376" y="16459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71048" y="2194560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C4A"/>
                </a:solidFill>
                <a:latin typeface="Calibri"/>
              </a:rPr>
              <a:t>4FX
feedback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71048" y="306324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SMC confirms
RUN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4023360"/>
            <a:ext cx="11430000" cy="219456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4160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Calibri"/>
              </a:rPr>
              <a:t>Expected indications after successful start (running)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46177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SOURCE = ON (white)
• SUPPLY (or EXHAUST) RUN = ON (green)
• ABNORMAL = OFF   |   INTERVAL = OFF   |   HEATING = OFF
• Ammeter ≈ motor load (typical ~60–65 A near FLA 65.4 A)
• EOCR measured current ≈ 3.0–3.3 A secondary (CT 100/5) under normal load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4. Start Sequence — Detailed Steps</a:t>
            </a:r>
          </a:p>
          <a:p>
            <a:r>
              <a:rPr sz="1200">
                <a:solidFill>
                  <a:srgbClr val="A8C5D8"/>
                </a:solidFill>
                <a:latin typeface="Calibri"/>
              </a:rPr>
              <a:t>Power &amp; control actions in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6A7A"/>
                </a:solidFill>
                <a:latin typeface="Calibri"/>
              </a:rPr>
              <a:t>NO.4 E/R VENT. FAN (REV)  |  HI-2536-ME-SD1/SD2  |  Hyundai Heavy Industries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A7A"/>
                </a:solidFill>
                <a:latin typeface="Calibri"/>
              </a:rPr>
              <a:t>5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97280"/>
            <a:ext cx="11430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898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A.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280160"/>
            <a:ext cx="9326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Operator presses SUPPLY (F) on SMC-503H (or remote F via GSP2).
Internal 4F picks up. HEATING lamp goes OFF; 88SH drops.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103120"/>
            <a:ext cx="11430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233172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9572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B. Reduced-voltage 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286000"/>
            <a:ext cx="9326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Start contactors 6-1 / 6-2 close. Motor fed through autotransformer (ATr)
at reduced voltage (80%/60% taps) to limit inrush. 88F (or 88R) path active.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108960"/>
            <a:ext cx="11430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33756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40156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C. Transition (Timer 19)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291840"/>
            <a:ext cx="9326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Timer 19 runs ≈ 30 seconds. After time-out, circuit transfers from
reduced-voltage start to full-voltage run. 6-1/6-2 sequence completes.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114800"/>
            <a:ext cx="11430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34340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40740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D. Full-voltage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4297680"/>
            <a:ext cx="9326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Motor runs on full line voltage via 88F (Supply) or 88R (Exhaust).
Interlocks prevent 88F and 88R both closed. Hour meter (HM) counts.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5120640"/>
            <a:ext cx="11430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2920" y="534924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41324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E. Feedback &amp; protect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303520"/>
            <a:ext cx="9326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4FX (or 4RX) aux contact closes → SMC sees RUN feedback.
EOCR 51 monitors CT current continuously (INV curve, D-TIME 6 s start delay).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5. Running / Monitoring</a:t>
            </a:r>
          </a:p>
          <a:p>
            <a:r>
              <a:rPr sz="1200">
                <a:solidFill>
                  <a:srgbClr val="A8C5D8"/>
                </a:solidFill>
                <a:latin typeface="Calibri"/>
              </a:rPr>
              <a:t>What to watch while the fan is running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6A7A"/>
                </a:solidFill>
                <a:latin typeface="Calibri"/>
              </a:rPr>
              <a:t>NO.4 E/R VENT. FAN (REV)  |  HI-2536-ME-SD1/SD2  |  Hyundai Heavy Industries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A7A"/>
                </a:solidFill>
                <a:latin typeface="Calibri"/>
              </a:rPr>
              <a:t>6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188720"/>
            <a:ext cx="2834640" cy="32004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2C4A"/>
                </a:solidFill>
                <a:latin typeface="Calibri"/>
              </a:rPr>
              <a:t>Door ammeter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~60–65 A typical
FLA = 65.4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7B"/>
                </a:solidFill>
                <a:latin typeface="Calibri"/>
              </a:rPr>
              <a:t>If rising toward/
above FLA → load issue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188720"/>
            <a:ext cx="2834640" cy="3200400"/>
          </a:xfrm>
          <a:prstGeom prst="roundRect">
            <a:avLst>
              <a:gd name="adj" fmla="val 8000"/>
            </a:avLst>
          </a:prstGeom>
          <a:solidFill>
            <a:srgbClr val="FDE8D8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2C4A"/>
                </a:solidFill>
                <a:latin typeface="Calibri"/>
              </a:rPr>
              <a:t>EOCR display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96596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Measured A (sec.)
SET’G = 3.27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2004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45C26"/>
                </a:solidFill>
                <a:latin typeface="Calibri"/>
              </a:rPr>
              <a:t>If measured &gt; SET’G
→ INV trip in minutes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188720"/>
            <a:ext cx="2834640" cy="32004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2C4A"/>
                </a:solidFill>
                <a:latin typeface="Calibri"/>
              </a:rPr>
              <a:t>SMC lamps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96596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SOURCE + RUN ON
ABNORMAL 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2004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Calibri"/>
              </a:rPr>
              <a:t>ABNORMAL ON =
fault / overload path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188720"/>
            <a:ext cx="2834640" cy="3200400"/>
          </a:xfrm>
          <a:prstGeom prst="roundRect">
            <a:avLst>
              <a:gd name="adj" fmla="val 8000"/>
            </a:avLst>
          </a:prstGeom>
          <a:solidFill>
            <a:srgbClr val="D4EFEE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260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2C4A"/>
                </a:solidFill>
                <a:latin typeface="Calibri"/>
              </a:rPr>
              <a:t>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196596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4FX / 4RX closed
to SMC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2004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7B"/>
                </a:solidFill>
                <a:latin typeface="Calibri"/>
              </a:rPr>
              <a:t>Lost feedback may
cause abnormal stop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617720"/>
            <a:ext cx="11430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709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71C1C"/>
                </a:solidFill>
                <a:latin typeface="Calibri"/>
              </a:rPr>
              <a:t>EOCR 51 settings (from drawing)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0749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Motor rating 65.4 A   |   Range 0.5–6 A   |   SET’G 3.27 A   |   O-TIME 10 s   |   D-TIME 6 s   |   CHA = INV   |   PF = OFF
CT ratio (effective): 100/5 → secondary = primary ÷ 20   (example: 63 A primary ≈ 3.15 A on EOCR)
Important: If EOCR measured &gt; 3.27 while door meter looks normal, verify with clamp meter — EOCR may trip on INV delay.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6. Normal Stop Sequence</a:t>
            </a:r>
          </a:p>
          <a:p>
            <a:r>
              <a:rPr sz="1200">
                <a:solidFill>
                  <a:srgbClr val="A8C5D8"/>
                </a:solidFill>
                <a:latin typeface="Calibri"/>
              </a:rPr>
              <a:t>Clean stop — no fault declared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6A7A"/>
                </a:solidFill>
                <a:latin typeface="Calibri"/>
              </a:rPr>
              <a:t>NO.4 E/R VENT. FAN (REV)  |  HI-2536-ME-SD1/SD2  |  Hyundai Heavy Industries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A7A"/>
                </a:solidFill>
                <a:latin typeface="Calibri"/>
              </a:rPr>
              <a:t>7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2344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417320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0876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10312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B2C4A"/>
                </a:solidFill>
                <a:latin typeface="Calibri"/>
              </a:rPr>
              <a:t>Stop command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51760"/>
            <a:ext cx="1691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Press STOP on SMC
or remote opens run
command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057400" y="2468880"/>
            <a:ext cx="320040" cy="228600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40279" y="12344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880359" y="1417320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59" y="150876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19" y="210312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B2C4A"/>
                </a:solidFill>
                <a:latin typeface="Calibri"/>
              </a:rPr>
              <a:t>4F / 4R drop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19" y="2651760"/>
            <a:ext cx="1691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SMC releases
forward/reverse
output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023359" y="2468880"/>
            <a:ext cx="320040" cy="228600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06240" y="12344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46320" y="1417320"/>
            <a:ext cx="502920" cy="502920"/>
          </a:xfrm>
          <a:prstGeom prst="ellipse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50876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10312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B2C4A"/>
                </a:solidFill>
                <a:latin typeface="Calibri"/>
              </a:rPr>
              <a:t>88F / 88R open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651760"/>
            <a:ext cx="1691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Power contactors
open; motor coasts
down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989320" y="2468880"/>
            <a:ext cx="320040" cy="228600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72199" y="12344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12279" y="1417320"/>
            <a:ext cx="502920" cy="502920"/>
          </a:xfrm>
          <a:prstGeom prst="ellipse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79" y="150876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39" y="210312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B2C4A"/>
                </a:solidFill>
                <a:latin typeface="Calibri"/>
              </a:rPr>
              <a:t>Current →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39" y="2651760"/>
            <a:ext cx="1691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Ammeter returns
to 0 A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955279" y="2468880"/>
            <a:ext cx="320040" cy="228600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138160" y="12344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0" y="1417320"/>
            <a:ext cx="502920" cy="50292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0" y="150876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210312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B2C4A"/>
                </a:solidFill>
                <a:latin typeface="Calibri"/>
              </a:rPr>
              <a:t>Heater 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2651760"/>
            <a:ext cx="1691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If HEATER = ON,
88SH closes;
HEATING lamp ON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921240" y="2468880"/>
            <a:ext cx="320040" cy="228600"/>
          </a:xfrm>
          <a:prstGeom prst="rightArrow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104120" y="12344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744200" y="141732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44200" y="150876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210312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B2C4A"/>
                </a:solidFill>
                <a:latin typeface="Calibri"/>
              </a:rPr>
              <a:t>Final state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5560" y="2651760"/>
            <a:ext cx="1691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SOURCE ON
ABNORMAL OFF
RUN lamps OFF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65760" y="4526280"/>
            <a:ext cx="11430000" cy="1737360"/>
          </a:xfrm>
          <a:prstGeom prst="roundRect">
            <a:avLst>
              <a:gd name="adj" fmla="val 8000"/>
            </a:avLst>
          </a:prstGeom>
          <a:solidFill>
            <a:srgbClr val="FDE8D8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4663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5C26"/>
                </a:solidFill>
                <a:latin typeface="Calibri"/>
              </a:rPr>
              <a:t>Your observed after-stop state matched NORMAL STOP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074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SOURCE ON · ABNORMAL OFF · INTERVAL OFF · HEATING ON · Ammeter 0 A
That means SMC released the run command (or control path opened as a “quiet” stop),
not a declared abnormal trip. If unintended: check STOP contact, SMC seal-in (4F), remote GSP2.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7. Normal Stop vs Abnormal Stop</a:t>
            </a:r>
          </a:p>
          <a:p>
            <a:r>
              <a:rPr sz="1200">
                <a:solidFill>
                  <a:srgbClr val="A8C5D8"/>
                </a:solidFill>
                <a:latin typeface="Calibri"/>
              </a:rPr>
              <a:t>How to tell what stopped the fan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6A7A"/>
                </a:solidFill>
                <a:latin typeface="Calibri"/>
              </a:rPr>
              <a:t>NO.4 E/R VENT. FAN (REV)  |  HI-2536-ME-SD1/SD2  |  Hyundai Heavy Industries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A7A"/>
                </a:solidFill>
                <a:latin typeface="Calibri"/>
              </a:rPr>
              <a:t>8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143000"/>
            <a:ext cx="5669280" cy="50292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E7D32"/>
                </a:solidFill>
                <a:latin typeface="Calibri"/>
              </a:rPr>
              <a:t>NORMAL / COMMAND STOP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Lamps
• ABNORMAL = OFF
• HEATING = ON (if heater switch ON)
• RUN lamps = OFF
• INTERVAL = OFF
Typical causes
• STOP button pressed / intermittent NC
• SMC 4F seal-in dropped
• Remote run contact opened (GSP2)
• Control power blip (may not latch abnormal)
88F replacement usually does NOT fix this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43000"/>
            <a:ext cx="5669280" cy="50292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B71C1C"/>
                </a:solidFill>
                <a:latin typeface="Calibri"/>
              </a:rPr>
              <a:t>ABNORMAL / PROTECTION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2880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Lamps
• ABNORMAL = ON (red)
• EOCR may show TRIP / OL
• RUN lamps = OFF
• HEATING may still come ON after stop
Typical causes
• EOCR 51 trip (INV — can take minutes)
• Overload / high current
• Power fail path
• Lost start/run feedback (4FX) after T1
Check EOCR trip state + clamp current
before raising SET’G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8. Quick Troubleshooting Flow (Stops After Several Minutes)</a:t>
            </a:r>
          </a:p>
          <a:p>
            <a:r>
              <a:rPr sz="1200">
                <a:solidFill>
                  <a:srgbClr val="A8C5D8"/>
                </a:solidFill>
                <a:latin typeface="Calibri"/>
              </a:rPr>
              <a:t>Use after-stop lamps + current readings 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6A7A"/>
                </a:solidFill>
                <a:latin typeface="Calibri"/>
              </a:rPr>
              <a:t>NO.4 E/R VENT. FAN (REV)  |  HI-2536-ME-SD1/SD2  |  Hyundai Heavy Industries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A7A"/>
                </a:solidFill>
                <a:latin typeface="Calibri"/>
              </a:rPr>
              <a:t>9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097280"/>
            <a:ext cx="5760720" cy="594360"/>
          </a:xfrm>
          <a:prstGeom prst="roundRect">
            <a:avLst>
              <a:gd name="adj" fmla="val 8000"/>
            </a:avLst>
          </a:prstGeom>
          <a:solidFill>
            <a:srgbClr val="0B2C4A"/>
          </a:solidFill>
          <a:ln w="1905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18872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Fan stops after several minutes — check lamps at the moment of stop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3657600" cy="118872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71C1C"/>
                </a:solidFill>
                <a:latin typeface="Calibri"/>
              </a:rPr>
              <a:t>ABNORMAL ON?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Yes → EOCR / protect
Check EOCR TRIP, clamp 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82880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659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Calibri"/>
              </a:rPr>
              <a:t>ABNORMAL OFF?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317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Yes → Command stop path
STOP / SMC 4F / Remote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291840"/>
            <a:ext cx="3657600" cy="1280160"/>
          </a:xfrm>
          <a:prstGeom prst="roundRect">
            <a:avLst>
              <a:gd name="adj" fmla="val 8000"/>
            </a:avLst>
          </a:prstGeom>
          <a:solidFill>
            <a:srgbClr val="FDE8D8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429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</a:rPr>
              <a:t>EOCR measured &gt; 3.27?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7947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Even if door amp ~63 A
Verify with clamp meter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291840"/>
            <a:ext cx="5394960" cy="1280160"/>
          </a:xfrm>
          <a:prstGeom prst="roundRect">
            <a:avLst>
              <a:gd name="adj" fmla="val 8000"/>
            </a:avLst>
          </a:prstGeom>
          <a:solidFill>
            <a:srgbClr val="D4EFEE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290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7B"/>
                </a:solidFill>
                <a:latin typeface="Calibri"/>
              </a:rPr>
              <a:t>SUPPLY lamp off first?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7947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Yes = SMC dropped command
No = power side after SMC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846320"/>
            <a:ext cx="5486400" cy="128016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9834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71C1C"/>
                </a:solidFill>
                <a:latin typeface="Calibri"/>
              </a:rPr>
              <a:t>Clamp ≈ EOCR (high)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3492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Real overload / mechanical load
Do not only raise SET’G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846320"/>
            <a:ext cx="5486400" cy="1280160"/>
          </a:xfrm>
          <a:prstGeom prst="roundRect">
            <a:avLst>
              <a:gd name="adj" fmla="val 8000"/>
            </a:avLst>
          </a:prstGeom>
          <a:solidFill>
            <a:srgbClr val="FDE8D8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49834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</a:rPr>
              <a:t>Clamp ≈ door (~63), EOCR high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53492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False EOCR/CT reading
Check CT &amp; EOCR device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9. Your Field Readings (as found)</a:t>
            </a:r>
          </a:p>
          <a:p>
            <a:r>
              <a:rPr sz="1200">
                <a:solidFill>
                  <a:srgbClr val="A8C5D8"/>
                </a:solidFill>
                <a:latin typeface="Calibri"/>
              </a:rPr>
              <a:t>Filled from panel checks during troubleshooting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6A7A"/>
                </a:solidFill>
                <a:latin typeface="Calibri"/>
              </a:rPr>
              <a:t>NO.4 E/R VENT. FAN (REV)  |  HI-2536-ME-SD1/SD2  |  Field readings included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A7A"/>
                </a:solidFill>
                <a:latin typeface="Calibri"/>
              </a:rPr>
              <a:t>10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097280"/>
            <a:ext cx="11521440" cy="658368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7043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Calibri"/>
              </a:rPr>
              <a:t>After-stop lamps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170432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SOURCE ON · ABNORMAL OFF · INTERVAL OFF · HEATING 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170432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Matches NORMAL / command stop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1828800"/>
            <a:ext cx="11521440" cy="658368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90195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E7C7B"/>
                </a:solidFill>
                <a:latin typeface="Calibri"/>
              </a:rPr>
              <a:t>Door ammeter (running)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01952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~ 63 A  (FLA 65.4 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901952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Under FLA — looks normal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2560320"/>
            <a:ext cx="11521440" cy="658368"/>
          </a:xfrm>
          <a:prstGeom prst="roundRect">
            <a:avLst>
              <a:gd name="adj" fmla="val 8000"/>
            </a:avLst>
          </a:prstGeom>
          <a:solidFill>
            <a:srgbClr val="FDE8D8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6334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</a:rPr>
              <a:t>EOCR measured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2633472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3.7 A secondary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633472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Above SET’G 3.27 A — INV may trip in minutes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3291840"/>
            <a:ext cx="11521440" cy="658368"/>
          </a:xfrm>
          <a:prstGeom prst="roundRect">
            <a:avLst>
              <a:gd name="adj" fmla="val 8000"/>
            </a:avLst>
          </a:prstGeom>
          <a:solidFill>
            <a:srgbClr val="FDE8D8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36499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5C26"/>
                </a:solidFill>
                <a:latin typeface="Calibri"/>
              </a:rPr>
              <a:t>EOCR setting (drawing)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364992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SET’G 3.27 A · CHA INV · D-TIME 6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364992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Expected secondary at FLA ≈ 3.27 A (CT 100/5)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" y="4023360"/>
            <a:ext cx="11521440" cy="658368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9651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71C1C"/>
                </a:solidFill>
                <a:latin typeface="Calibri"/>
              </a:rPr>
              <a:t>88F contactor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096512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Already renewed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4096512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Did not cure delayed stop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" y="4754880"/>
            <a:ext cx="11521440" cy="658368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82803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Calibri"/>
              </a:rPr>
              <a:t>Lamp 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4828032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All indicators 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4828032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ABNORMAL lamp is good — so OFF means truly no alarm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0040" y="5486400"/>
            <a:ext cx="11521440" cy="658368"/>
          </a:xfrm>
          <a:prstGeom prst="roundRect">
            <a:avLst>
              <a:gd name="adj" fmla="val 8000"/>
            </a:avLst>
          </a:prstGeom>
          <a:solidFill>
            <a:srgbClr val="FDE8D8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55955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5100"/>
                </a:solidFill>
                <a:latin typeface="Calibri"/>
              </a:rPr>
              <a:t>Conflict to resolve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5559552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Door ~63 A vs EOCR 3.7 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5559552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Use clamp meter on all 3 phases to decide real vs false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Calibri"/>
              </a:rPr>
              <a:t>10. One-Page Flowchart (print companion)</a:t>
            </a:r>
          </a:p>
          <a:p>
            <a:r>
              <a:rPr sz="1200">
                <a:solidFill>
                  <a:srgbClr val="A8C5D8"/>
                </a:solidFill>
                <a:latin typeface="Calibri"/>
              </a:rPr>
              <a:t>Same content as the A4 landscape PDF — keep beside the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6A7A"/>
                </a:solidFill>
                <a:latin typeface="Calibri"/>
              </a:rPr>
              <a:t>NO.4 E/R VENT. FAN (REV)  |  HI-2536-ME-SD1/SD2  |  Field readings included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A7A"/>
                </a:solidFill>
                <a:latin typeface="Calibri"/>
              </a:rPr>
              <a:t>11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143000"/>
            <a:ext cx="3749039" cy="5120640"/>
          </a:xfrm>
          <a:prstGeom prst="roundRect">
            <a:avLst>
              <a:gd name="adj" fmla="val 8000"/>
            </a:avLst>
          </a:prstGeom>
          <a:solidFill>
            <a:srgbClr val="D4EFEE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3383280" cy="457200"/>
          </a:xfrm>
          <a:prstGeom prst="roundRect">
            <a:avLst>
              <a:gd name="adj" fmla="val 15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898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START →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1. Pre-start OK (52, SOURCE, no abnormal)
2. Press SUPPLY or EXHAUST
3. Heater OFF (88SH open)
4. Reduced V start (6-1/6-2 + ATr)
5. Timer 19 ≈ 30 s transition
6. Full voltage via 88F / 88R
7. 4FX / 4RX feedback to SMC
8. Monitor A + EOCR + lamps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59" y="1143000"/>
            <a:ext cx="3749039" cy="512064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34839" y="1325880"/>
            <a:ext cx="3383280" cy="457200"/>
          </a:xfrm>
          <a:prstGeom prst="roundRect">
            <a:avLst>
              <a:gd name="adj" fmla="val 15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39" y="13898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NORMAL STOP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196596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STOP / command drop
4F/4R release
88F/88R open → Amp 0
HEATING ON (if heater ON)
ABNORMAL stays OFF
Your after-stop state matched this
→ check STOP / SMC / remote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143000"/>
            <a:ext cx="3749039" cy="5120640"/>
          </a:xfrm>
          <a:prstGeom prst="roundRect">
            <a:avLst>
              <a:gd name="adj" fmla="val 8000"/>
            </a:avLst>
          </a:prstGeom>
          <a:solidFill>
            <a:srgbClr val="FDE8D8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6759" y="1325880"/>
            <a:ext cx="3383280" cy="457200"/>
          </a:xfrm>
          <a:prstGeom prst="roundRect">
            <a:avLst>
              <a:gd name="adj" fmla="val 15000"/>
            </a:avLst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59" y="138988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NEXT 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9" y="196596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Clamp all 3 phases while running
Compare to door A and EOCR 3.7
If clamp ≈ 63 A: EOCR/CT suspect
If clamp high: real overload
Watch stop: SUPPLY lamp first?
Retest in LOCAL only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o4_ER_Vent_Fan_Power_Path_From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91440"/>
            <a:ext cx="11887200" cy="71323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o4_ER_Vent_Fan_Control_Path_From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91440"/>
            <a:ext cx="11887200" cy="7132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