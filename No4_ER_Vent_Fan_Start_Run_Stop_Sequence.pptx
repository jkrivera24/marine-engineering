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011680"/>
            <a:ext cx="12191695" cy="2743200"/>
          </a:xfrm>
          <a:prstGeom prst="rect">
            <a:avLst/>
          </a:prstGeom>
          <a:solidFill>
            <a:srgbClr val="0E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945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Calibri"/>
              </a:rPr>
              <a:t>NO.4 E/R VENT. FAN (REV)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7889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7ED6D4"/>
                </a:solidFill>
                <a:latin typeface="Calibri"/>
              </a:rPr>
              <a:t>Start → Run → Stop Sequence Guide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337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A8C5D8"/>
                </a:solidFill>
                <a:latin typeface="Calibri"/>
              </a:rPr>
              <a:t>Based on schematic HI-2536-ME-SD1 (p.072) &amp; HI-2536-ME-SD2 (p.073)
Controller: LUXCO SMC-503H  |  Autotransformer reduced-voltage start  |  EOCR 51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9436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7A9AB0"/>
                </a:solidFill>
                <a:latin typeface="Calibri"/>
              </a:rPr>
              <a:t>Hyundai Heavy Industries  ·  Shipboard Engine Room Ventilation Fan (Reversible)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1. System Overview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Main components involved in start / run / stop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2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887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141732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Main MCCB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231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3-phase power in
(R, S, T)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91840" y="11887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474720" y="141732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7472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88F / 88R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Direction Contactors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24231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Forward (Supply)
Reverse (Exhaust)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11887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400800" y="141732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ATr + 6-1/6-2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Reduced-Voltage Start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4231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Autotransformer
80% / 60% taps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144000" y="118872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326880" y="141732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26880" y="146304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0" y="201168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Transition Timer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26880" y="242316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≈ 30 sec
Start → Full voltage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65760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48640" y="388620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B7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51 EOCR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Overcurrent Relay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4892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SET 3.27 A
INV characteristic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291840" y="365760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474720" y="388620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47472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SMC-503H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7472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Motor Controller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74720" y="4892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Local/Remote F-R
Lamps &amp; alarms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217920" y="365760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400800" y="388620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4FX / 4RX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Run Feedback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4892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Aux contacts back
to SMC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144000" y="3657600"/>
            <a:ext cx="27432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326880" y="3886200"/>
            <a:ext cx="2377440" cy="411480"/>
          </a:xfrm>
          <a:prstGeom prst="roundRect">
            <a:avLst>
              <a:gd name="adj" fmla="val 20000"/>
            </a:avLst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26880" y="393192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88SH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326880" y="4480560"/>
            <a:ext cx="2377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0B2C4A"/>
                </a:solidFill>
                <a:latin typeface="Calibri"/>
              </a:rPr>
              <a:t>Space Heater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26880" y="4892040"/>
            <a:ext cx="23774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1A1A1A"/>
                </a:solidFill>
                <a:latin typeface="Calibri"/>
              </a:rPr>
              <a:t>ON when motor
stopped (if enabled)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2. Pre-Start Conditions (Ready to Start)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All must be OK before pressing SUPPLY or EXHAUST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3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14300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5270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1325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MCCB 52 CLOSED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1691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3-phase power available to starter panel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14300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400800" y="146304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15270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0880" y="13258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SOURCE lamp 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1691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SMC-503H has AC 220 V control power (S1–S2)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237744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48640" y="269748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7614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ABNORMAL lamp OFF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No fault latched; EOCR not tripped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17920" y="237744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400800" y="269748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27614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256032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HEATING may be 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292608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Normal if HEATER switch = ON and motor was stopped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65760" y="361188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48640" y="393192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9959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8872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Ammeter ≈ 0 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88720" y="41605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Motor not running; contactors open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0" y="361188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6400800" y="393192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99592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37947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EOCR healthy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41605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Not in TRIP; SET’G = 3.27 A (drawing value)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65760" y="484632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48640" y="516636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2303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8872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Direction clear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88720" y="53949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Wait until fan stopped mechanically before F↔R change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217920" y="4846320"/>
            <a:ext cx="5623560" cy="10972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400800" y="5166360"/>
            <a:ext cx="457200" cy="45720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0" y="523036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50292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C4A"/>
                </a:solidFill>
                <a:latin typeface="Calibri"/>
              </a:rPr>
              <a:t>Start count OK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539496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Max 3 consecutive starts; then wait 40 min (ATr cool-down)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3. Start Sequence — Overview (Supply / Forward)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Same logic for Exhaust / Reverse using 88R &amp; 4RX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4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Press
SUPPLY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Operator
command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1581912" y="2423160"/>
            <a:ext cx="320040" cy="228600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709928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21408" y="155448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21408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83080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4F / SMC
output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83080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Run command
to starter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3063240" y="2423160"/>
            <a:ext cx="320040" cy="228600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191256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602736" y="1554480"/>
            <a:ext cx="502920" cy="50292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02736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64408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88SH
OFF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64408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Heater drops
out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4544568" y="2423160"/>
            <a:ext cx="320040" cy="228600"/>
          </a:xfrm>
          <a:prstGeom prst="rightArrow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672584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084064" y="1554480"/>
            <a:ext cx="502920" cy="502920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84064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45736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Start
6-1 / 6-2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45736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Reduced V
via ATr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25896" y="2423160"/>
            <a:ext cx="320040" cy="22860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153912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565392" y="155448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65392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27064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88F
closes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27064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Forward
power path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7507224" y="2423160"/>
            <a:ext cx="320040" cy="228600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635240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8046720" y="1554480"/>
            <a:ext cx="502920" cy="502920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046720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08392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Timer 19
≈ 30 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08392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Transition
wait</a:t>
            </a:r>
          </a:p>
        </p:txBody>
      </p:sp>
      <p:sp>
        <p:nvSpPr>
          <p:cNvPr id="43" name="Right Arrow 42"/>
          <p:cNvSpPr/>
          <p:nvPr/>
        </p:nvSpPr>
        <p:spPr>
          <a:xfrm>
            <a:off x="8988552" y="2423160"/>
            <a:ext cx="320040" cy="22860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9116568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528048" y="155448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528048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Full
voltage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89720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Run contactors
transfer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10469880" y="2423160"/>
            <a:ext cx="320040" cy="228600"/>
          </a:xfrm>
          <a:prstGeom prst="rightArrow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10597896" y="1371600"/>
            <a:ext cx="137160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11009376" y="155448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009376" y="164592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671048" y="2194560"/>
            <a:ext cx="1234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B2C4A"/>
                </a:solidFill>
                <a:latin typeface="Calibri"/>
              </a:rPr>
              <a:t>4FX
feedback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71048" y="3063240"/>
            <a:ext cx="1234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5A6A7A"/>
                </a:solidFill>
                <a:latin typeface="Calibri"/>
              </a:rPr>
              <a:t>SMC confirms
RUN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65760" y="4023360"/>
            <a:ext cx="11430000" cy="219456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1605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E7D32"/>
                </a:solidFill>
                <a:latin typeface="Calibri"/>
              </a:rPr>
              <a:t>Expected indications after successful start (running)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4617720"/>
            <a:ext cx="10972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• SOURCE = ON (white)
• SUPPLY (or EXHAUST) RUN = ON (green)
• ABNORMAL = OFF   |   INTERVAL = OFF   |   HEATING = OFF
• Ammeter ≈ motor load (typical ~60–65 A near FLA 65.4 A)
• EOCR measured current ≈ 3.0–3.3 A secondary (CT 100/5) under normal load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4. Start Sequence — Detailed Steps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Power &amp; control actions in 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5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109728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02920" y="132588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8988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A.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28016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Operator presses SUPPLY (F) on SMC-503H (or remote F via GSP2).
Internal 4F picks up. HEATING lamp goes OFF; 88SH drops.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10312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" y="233172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39572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B. Reduced-voltage start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228600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Start contactors 6-1 / 6-2 close. Motor fed through autotransformer (ATr)
at reduced voltage (80%/60% taps) to limit inrush. 88F (or 88R) path active.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10896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02920" y="333756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40156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C. Transition (Timer 19)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329184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Timer 19 runs ≈ 30 seconds. After time-out, circuit transfers from
reduced-voltage start to full-voltage run. 6-1/6-2 sequence completes.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11480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434340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0740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D. Full-voltage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4560" y="429768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Motor runs on full line voltage via 88F (Supply) or 88R (Exhaust).
Interlocks prevent 88F and 88R both closed. Hour meter (HM) counts.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5120640"/>
            <a:ext cx="114300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02920" y="5349240"/>
            <a:ext cx="1463040" cy="457200"/>
          </a:xfrm>
          <a:prstGeom prst="roundRect">
            <a:avLst>
              <a:gd name="adj" fmla="val 15000"/>
            </a:avLst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5413248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E. Feedback &amp; protect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530352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4FX (or 4RX) aux contact closes → SMC sees RUN feedback.
EOCR 51 monitors CT current continuously (INV curve, D-TIME 6 s start delay).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5. Running / Monitoring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What to watch while the fan is running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6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188720"/>
            <a:ext cx="2834640" cy="3200400"/>
          </a:xfrm>
          <a:prstGeom prst="roundRect">
            <a:avLst>
              <a:gd name="adj" fmla="val 8000"/>
            </a:avLst>
          </a:prstGeom>
          <a:solidFill>
            <a:srgbClr val="E3F2FD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Door ammeter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9659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~60–65 A typical
FLA = 65.4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200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7B"/>
                </a:solidFill>
                <a:latin typeface="Calibri"/>
              </a:rPr>
              <a:t>If rising toward/
above FLA → load issue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91840" y="1188720"/>
            <a:ext cx="2834640" cy="320040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290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EOCR display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29000" y="19659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Measured A (sec.)
SET’G = 3.27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9000" y="3200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C45C26"/>
                </a:solidFill>
                <a:latin typeface="Calibri"/>
              </a:rPr>
              <a:t>If measured &gt; SET’G
→ INV trip in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188720"/>
            <a:ext cx="2834640" cy="32004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SMC lamps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9659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SOURCE + RUN ON
ABNORMAL OFF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200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2E7D32"/>
                </a:solidFill>
                <a:latin typeface="Calibri"/>
              </a:rPr>
              <a:t>ABNORMAL ON =
fault / overload path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1188720"/>
            <a:ext cx="2834640" cy="3200400"/>
          </a:xfrm>
          <a:prstGeom prst="roundRect">
            <a:avLst>
              <a:gd name="adj" fmla="val 8000"/>
            </a:avLst>
          </a:prstGeom>
          <a:solidFill>
            <a:srgbClr val="D4EFEE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1371600"/>
            <a:ext cx="2560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B2C4A"/>
                </a:solidFill>
                <a:latin typeface="Calibri"/>
              </a:rPr>
              <a:t>Feedback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72600" y="1965960"/>
            <a:ext cx="25603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1A1A1A"/>
                </a:solidFill>
                <a:latin typeface="Calibri"/>
              </a:rPr>
              <a:t>4FX / 4RX closed
to SMC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72600" y="320040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E7C7B"/>
                </a:solidFill>
                <a:latin typeface="Calibri"/>
              </a:rPr>
              <a:t>Lost feedback may
cause abnormal stop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5760" y="4617720"/>
            <a:ext cx="11430000" cy="1691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7091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B71C1C"/>
                </a:solidFill>
                <a:latin typeface="Calibri"/>
              </a:rPr>
              <a:t>EOCR 51 settings (from drawing)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507492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Motor rating 65.4 A   |   Range 0.5–6 A   |   SET’G 3.27 A   |   O-TIME 10 s   |   D-TIME 6 s   |   CHA = INV   |   PF = OFF
CT ratio (effective): 100/5 → secondary = primary ÷ 20   (example: 63 A primary ≈ 3.15 A on EOCR)
Important: If EOCR measured &gt; 3.27 while door meter looks normal, verify with clamp meter — EOCR may trip on INV delay.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6. Normal Stop Sequence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Clean stop — no fault declared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7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74320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141732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Stop command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Press STOP on SMC
or remote opens run
command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2057400" y="2468880"/>
            <a:ext cx="320040" cy="228600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240279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880359" y="1417320"/>
            <a:ext cx="502920" cy="502920"/>
          </a:xfrm>
          <a:prstGeom prst="ellipse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880359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19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4F / 4R drop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31719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SMC releases
forward/reverse
output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023359" y="2468880"/>
            <a:ext cx="320040" cy="228600"/>
          </a:xfrm>
          <a:prstGeom prst="rightArrow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206240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846320" y="1417320"/>
            <a:ext cx="502920" cy="502920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4632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88F / 88R open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Power contactors
open; motor coasts
down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5989320" y="2468880"/>
            <a:ext cx="320040" cy="22860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172199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812279" y="1417320"/>
            <a:ext cx="502920" cy="502920"/>
          </a:xfrm>
          <a:prstGeom prst="ellipse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12279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39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Current → 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39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Ammeter returns
to 0 A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7955279" y="2468880"/>
            <a:ext cx="320040" cy="228600"/>
          </a:xfrm>
          <a:prstGeom prst="rightArrow">
            <a:avLst/>
          </a:prstGeom>
          <a:solidFill>
            <a:srgbClr val="C45C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8138160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E65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78240" y="1417320"/>
            <a:ext cx="502920" cy="502920"/>
          </a:xfrm>
          <a:prstGeom prst="ellipse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77824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Heater 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If HEATER = ON,
88SH closes;
HEATING lamp ON</a:t>
            </a:r>
          </a:p>
        </p:txBody>
      </p:sp>
      <p:sp>
        <p:nvSpPr>
          <p:cNvPr id="37" name="Right Arrow 36"/>
          <p:cNvSpPr/>
          <p:nvPr/>
        </p:nvSpPr>
        <p:spPr>
          <a:xfrm>
            <a:off x="9921240" y="2468880"/>
            <a:ext cx="320040" cy="228600"/>
          </a:xfrm>
          <a:prstGeom prst="rightArrow">
            <a:avLst/>
          </a:prstGeom>
          <a:solidFill>
            <a:srgbClr val="E651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0104120" y="1234440"/>
            <a:ext cx="1874519" cy="3017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10744200" y="1417320"/>
            <a:ext cx="502920" cy="502920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44200" y="1508760"/>
            <a:ext cx="502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2103120"/>
            <a:ext cx="1691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C4A"/>
                </a:solidFill>
                <a:latin typeface="Calibri"/>
              </a:rPr>
              <a:t>Final state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95560" y="2651760"/>
            <a:ext cx="16916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1A1A1A"/>
                </a:solidFill>
                <a:latin typeface="Calibri"/>
              </a:rPr>
              <a:t>SOURCE ON
ABNORMAL OFF
RUN lamps OFF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65760" y="4526280"/>
            <a:ext cx="11430000" cy="173736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48640" y="466344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C45C26"/>
                </a:solidFill>
                <a:latin typeface="Calibri"/>
              </a:rPr>
              <a:t>Your observed after-stop state matched NORMAL STOP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507492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SOURCE ON · ABNORMAL OFF · INTERVAL OFF · HEATING ON · Ammeter 0 A
That means SMC released the run command (or control path opened as a “quiet” stop),
not a declared abnormal trip. If unintended: check STOP contact, SMC seal-in (4F), remote GSP2.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7. Normal Stop vs Abnormal Stop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How to tell what stopped the fan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8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E7D32"/>
                </a:solidFill>
                <a:latin typeface="Calibri"/>
              </a:rPr>
              <a:t>NORMAL / COMMAND STOP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Lamps
• ABNORMAL = OFF
• HEATING = ON (if heater switch ON)
• RUN lamps = OFF
• INTERVAL = OFF
Typical causes
• STOP button pressed / intermittent NC
• SMC 4F seal-in dropped
• Remote run contact opened (GSP2)
• Control power blip (may not latch abnormal)
88F replacement usually does NOT fix this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143000"/>
            <a:ext cx="5669280" cy="502920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1280160"/>
            <a:ext cx="5303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B71C1C"/>
                </a:solidFill>
                <a:latin typeface="Calibri"/>
              </a:rPr>
              <a:t>ABNORMAL / PROTECTION STOP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0" y="182880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1A"/>
                </a:solidFill>
                <a:latin typeface="Calibri"/>
              </a:rPr>
              <a:t>Lamps
• ABNORMAL = ON (red)
• EOCR may show TRIP / OL
• RUN lamps = OFF
• HEATING may still come ON after stop
Typical causes
• EOCR 51 trip (INV — can take minutes)
• Overload / high current
• Power fail path
• Lost start/run feedback (4FX) after T1
Check EOCR trip state + clamp current
before raising SET’G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0B2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68680"/>
            <a:ext cx="12191695" cy="73152"/>
          </a:xfrm>
          <a:prstGeom prst="rect">
            <a:avLst/>
          </a:prstGeom>
          <a:solidFill>
            <a:srgbClr val="0E7C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6459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FFFFFF"/>
                </a:solidFill>
                <a:latin typeface="Calibri"/>
              </a:rPr>
              <a:t>8. Quick Troubleshooting Flow (Stops After Several Minutes)</a:t>
            </a:r>
          </a:p>
          <a:p>
            <a:r>
              <a:rPr sz="1200">
                <a:solidFill>
                  <a:srgbClr val="A8C5D8"/>
                </a:solidFill>
                <a:latin typeface="Calibri"/>
              </a:rPr>
              <a:t>Use after-stop lamps + current readings together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537960"/>
            <a:ext cx="9144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A6A7A"/>
                </a:solidFill>
                <a:latin typeface="Calibri"/>
              </a:rPr>
              <a:t>NO.4 E/R VENT. FAN (REV)  |  HI-2536-ME-SD1/SD2  |  Hyundai Heavy Industries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A6A7A"/>
                </a:solidFill>
                <a:latin typeface="Calibri"/>
              </a:rPr>
              <a:t>9 / 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097280"/>
            <a:ext cx="5760720" cy="594360"/>
          </a:xfrm>
          <a:prstGeom prst="roundRect">
            <a:avLst>
              <a:gd name="adj" fmla="val 8000"/>
            </a:avLst>
          </a:prstGeom>
          <a:solidFill>
            <a:srgbClr val="0B2C4A"/>
          </a:solidFill>
          <a:ln w="19050">
            <a:solidFill>
              <a:srgbClr val="0B2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188720"/>
            <a:ext cx="5760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Fan stops after several minutes — check lamps at the moment of stop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1828800"/>
            <a:ext cx="3657600" cy="118872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659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71C1C"/>
                </a:solidFill>
                <a:latin typeface="Calibri"/>
              </a:rPr>
              <a:t>ABNORMAL ON?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Yes → EOCR / protect
Check EOCR TRIP, clamp 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09360" y="1828800"/>
            <a:ext cx="5394960" cy="1188720"/>
          </a:xfrm>
          <a:prstGeom prst="roundRect">
            <a:avLst>
              <a:gd name="adj" fmla="val 8000"/>
            </a:avLst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6596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E7D32"/>
                </a:solidFill>
                <a:latin typeface="Calibri"/>
              </a:rPr>
              <a:t>ABNORMAL OFF?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3172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Yes → Command stop path
STOP / SMC 4F / Remote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291840"/>
            <a:ext cx="3657600" cy="128016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290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EOCR measured &gt; 3.27?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794760"/>
            <a:ext cx="3383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Even if door amp ~63 A
Verify with clamp meter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3291840"/>
            <a:ext cx="5394960" cy="1280160"/>
          </a:xfrm>
          <a:prstGeom prst="roundRect">
            <a:avLst>
              <a:gd name="adj" fmla="val 8000"/>
            </a:avLst>
          </a:prstGeom>
          <a:solidFill>
            <a:srgbClr val="D4EFEE"/>
          </a:solidFill>
          <a:ln w="19050">
            <a:solidFill>
              <a:srgbClr val="0E7C7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29000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E7C7B"/>
                </a:solidFill>
                <a:latin typeface="Calibri"/>
              </a:rPr>
              <a:t>SUPPLY lamp off first?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794760"/>
            <a:ext cx="5120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Yes = SMC dropped command
No = power side after SMC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5760" y="4846320"/>
            <a:ext cx="5486400" cy="1280160"/>
          </a:xfrm>
          <a:prstGeom prst="roundRect">
            <a:avLst>
              <a:gd name="adj" fmla="val 8000"/>
            </a:avLst>
          </a:prstGeom>
          <a:solidFill>
            <a:srgbClr val="FFEBEE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B71C1C"/>
                </a:solidFill>
                <a:latin typeface="Calibri"/>
              </a:rPr>
              <a:t>Clamp ≈ EOCR (high)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3492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Real overload / mechanical load
Do not only raise SET’G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4846320"/>
            <a:ext cx="5486400" cy="1280160"/>
          </a:xfrm>
          <a:prstGeom prst="roundRect">
            <a:avLst>
              <a:gd name="adj" fmla="val 8000"/>
            </a:avLst>
          </a:prstGeom>
          <a:solidFill>
            <a:srgbClr val="FDE8D8"/>
          </a:solidFill>
          <a:ln w="19050">
            <a:solidFill>
              <a:srgbClr val="C45C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55080" y="498348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C45C26"/>
                </a:solidFill>
                <a:latin typeface="Calibri"/>
              </a:rPr>
              <a:t>Clamp ≈ door (~63), EOCR high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55080" y="5349240"/>
            <a:ext cx="5212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A1A1A"/>
                </a:solidFill>
                <a:latin typeface="Calibri"/>
              </a:rPr>
              <a:t>False EOCR/CT reading
Check CT &amp; EOCR device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